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66" r:id="rId3"/>
    <p:sldId id="256" r:id="rId4"/>
    <p:sldId id="270" r:id="rId5"/>
    <p:sldId id="271" r:id="rId6"/>
    <p:sldId id="272" r:id="rId7"/>
    <p:sldId id="273" r:id="rId8"/>
    <p:sldId id="274" r:id="rId9"/>
    <p:sldId id="275" r:id="rId10"/>
    <p:sldId id="267" r:id="rId11"/>
  </p:sldIdLst>
  <p:sldSz cx="14630400" cy="8229600"/>
  <p:notesSz cx="8229600" cy="14630400"/>
  <p:embeddedFontLst>
    <p:embeddedFont>
      <p:font typeface="Arial Black" panose="020B0A04020102020204" pitchFamily="34" charset="0"/>
      <p:bold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Noto Sans Symbols" pitchFamily="2" charset="0"/>
      <p:regular r:id="rId18"/>
      <p:bold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Wingdings 3" panose="05040102010807070707" pitchFamily="18" charset="2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8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8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A2D2B-90E4-4301-3BD3-74E715F66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672A2-F64C-72A1-C81C-4E0F02F7B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42A87-B614-B369-9666-DF377B1B2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B4B28-8C55-B3A5-C8AF-15DBFA342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2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27EA-7210-6A84-4F69-71E88538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2E2F8-A8F0-EF38-A888-AC7E3106E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48B85-B892-775D-E329-9CCCDEAC6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F5601-4CC0-840A-7AA3-124272027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43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6F8E-94FD-D6AE-2BB0-58CC44A3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02263-8128-C10E-46CC-E066BF414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AC28E-757E-631D-CA28-ECFCC7BEA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32E5D-E054-CCAA-2881-34BA6D5E65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91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8C6CA-3458-6C2F-7F0C-49EFB33D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07B5E-AC57-BE04-F032-7E0986FFE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6F053-C6AA-F29B-6C04-51312B59A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01C0E-20B6-9D2F-9AB8-E2ED97B97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18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103E-986F-4911-5E4A-0AE7429D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6AD15-5E48-BA00-E33B-39CCDBE5A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69FBC-599F-FAFC-2F9B-EAA12A0BC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A5B09-0D9B-2C66-2D5F-E2090DD7D5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70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A0E1C-C35E-E70F-613D-9B397A1A9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9559D-20E1-8C06-45F1-AAB8DFA29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F1E69-2136-6122-F573-F74A6A5FE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5D698-50C8-7931-FB77-EEC929454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0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7646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7946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960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66710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03569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08877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6265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3056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35087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42953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92790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7191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094259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79629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8670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0895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04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18-May-25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57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F9175B-6286-68FC-8862-62AF7B5D4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" y="1073427"/>
            <a:ext cx="14617130" cy="586077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9CB009A-5653-C935-C9DB-7526A219E2D3}"/>
              </a:ext>
            </a:extLst>
          </p:cNvPr>
          <p:cNvSpPr txBox="1">
            <a:spLocks/>
          </p:cNvSpPr>
          <p:nvPr/>
        </p:nvSpPr>
        <p:spPr>
          <a:xfrm>
            <a:off x="0" y="19034"/>
            <a:ext cx="14617130" cy="1213418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>
                <a:latin typeface="Arial Black" panose="020B0A04020102020204" pitchFamily="34" charset="0"/>
                <a:cs typeface="Arial" panose="020B0604020202020204" pitchFamily="34" charset="0"/>
              </a:rPr>
              <a:t>South Westphalia University of Applied Sciences</a:t>
            </a:r>
            <a:br>
              <a:rPr lang="en-US" sz="2200" b="1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latin typeface="Arial Black" panose="020B0A04020102020204" pitchFamily="34" charset="0"/>
                <a:cs typeface="Arial" panose="020B0604020202020204" pitchFamily="34" charset="0"/>
              </a:rPr>
              <a:t>Data Science Project Seminar Driving Corporate Performance</a:t>
            </a:r>
            <a:br>
              <a:rPr lang="en-US" sz="2200" b="1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latin typeface="Arial Black" panose="020B0A04020102020204" pitchFamily="34" charset="0"/>
                <a:cs typeface="Arial" panose="020B0604020202020204" pitchFamily="34" charset="0"/>
              </a:rPr>
              <a:t>Summer Semester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89157-0BB5-9E58-AB47-176075A3AC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96" y="7156173"/>
            <a:ext cx="2952612" cy="648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9C8C22-AA0F-90E7-927E-96FCDBDB0A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3015" y="7042309"/>
            <a:ext cx="2473058" cy="761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8E19CB-08C5-6FD3-140D-66848D7A171A}"/>
              </a:ext>
            </a:extLst>
          </p:cNvPr>
          <p:cNvSpPr txBox="1"/>
          <p:nvPr/>
        </p:nvSpPr>
        <p:spPr>
          <a:xfrm>
            <a:off x="9911780" y="6275724"/>
            <a:ext cx="4705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5EAD"/>
              </a:buClr>
              <a:buSzPts val="1350"/>
              <a:buFont typeface="Noto Sans Symbols"/>
              <a:buNone/>
            </a:pPr>
            <a:r>
              <a:rPr lang="en-US" sz="1800" b="1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 Abdullah Al Noman Mridha</a:t>
            </a:r>
            <a:r>
              <a:rPr lang="en-US" sz="1800" b="1" i="0" u="none" strike="noStrike" cap="none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0" u="none" strike="noStrike" cap="none" noProof="0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Matriculation number: 30494592)</a:t>
            </a: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3DC97A-A313-248D-535F-C7C31807A0F8}"/>
              </a:ext>
            </a:extLst>
          </p:cNvPr>
          <p:cNvSpPr/>
          <p:nvPr/>
        </p:nvSpPr>
        <p:spPr>
          <a:xfrm>
            <a:off x="-6635" y="1010480"/>
            <a:ext cx="11075494" cy="934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 2024 Ticket Trends: A Data-Driven Approach to Fan Engagement</a:t>
            </a:r>
          </a:p>
        </p:txBody>
      </p:sp>
    </p:spTree>
    <p:extLst>
      <p:ext uri="{BB962C8B-B14F-4D97-AF65-F5344CB8AC3E}">
        <p14:creationId xmlns:p14="http://schemas.microsoft.com/office/powerpoint/2010/main" val="2223125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6711B5-3184-607F-D24F-987BE25AA760}"/>
              </a:ext>
            </a:extLst>
          </p:cNvPr>
          <p:cNvSpPr txBox="1"/>
          <p:nvPr/>
        </p:nvSpPr>
        <p:spPr>
          <a:xfrm>
            <a:off x="323850" y="371387"/>
            <a:ext cx="612664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i="0" u="none" strike="noStrike" dirty="0">
                <a:solidFill>
                  <a:srgbClr val="005EAD"/>
                </a:solidFill>
                <a:effectLst/>
                <a:latin typeface="Roboto" panose="02000000000000000000" pitchFamily="2" charset="0"/>
              </a:rPr>
              <a:t>Dataset Preparation</a:t>
            </a:r>
          </a:p>
          <a:p>
            <a:pPr>
              <a:buNone/>
            </a:pP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C666BCA8-42DE-FF72-CCF7-F03B85166165}"/>
              </a:ext>
            </a:extLst>
          </p:cNvPr>
          <p:cNvCxnSpPr>
            <a:cxnSpLocks/>
          </p:cNvCxnSpPr>
          <p:nvPr/>
        </p:nvCxnSpPr>
        <p:spPr bwMode="auto">
          <a:xfrm>
            <a:off x="238125" y="1293039"/>
            <a:ext cx="5695536" cy="0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3A4CF7-732F-3B88-4F60-2293A6491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47" y="7391400"/>
            <a:ext cx="2426690" cy="74771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19C695-1566-1C1A-94AD-94CF982AE5C7}"/>
              </a:ext>
            </a:extLst>
          </p:cNvPr>
          <p:cNvSpPr/>
          <p:nvPr/>
        </p:nvSpPr>
        <p:spPr>
          <a:xfrm>
            <a:off x="238126" y="7629525"/>
            <a:ext cx="952500" cy="4381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Folie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596444-21E9-4FB2-E77B-13FF4F2FB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680634"/>
              </p:ext>
            </p:extLst>
          </p:nvPr>
        </p:nvGraphicFramePr>
        <p:xfrm>
          <a:off x="714376" y="1830564"/>
          <a:ext cx="13357729" cy="4855942"/>
        </p:xfrm>
        <a:graphic>
          <a:graphicData uri="http://schemas.openxmlformats.org/drawingml/2006/table">
            <a:tbl>
              <a:tblPr firstRow="1" bandRow="1"/>
              <a:tblGrid>
                <a:gridCol w="3392236">
                  <a:extLst>
                    <a:ext uri="{9D8B030D-6E8A-4147-A177-3AD203B41FA5}">
                      <a16:colId xmlns:a16="http://schemas.microsoft.com/office/drawing/2014/main" val="208175779"/>
                    </a:ext>
                  </a:extLst>
                </a:gridCol>
                <a:gridCol w="4589110">
                  <a:extLst>
                    <a:ext uri="{9D8B030D-6E8A-4147-A177-3AD203B41FA5}">
                      <a16:colId xmlns:a16="http://schemas.microsoft.com/office/drawing/2014/main" val="1784799947"/>
                    </a:ext>
                  </a:extLst>
                </a:gridCol>
                <a:gridCol w="5376383">
                  <a:extLst>
                    <a:ext uri="{9D8B030D-6E8A-4147-A177-3AD203B41FA5}">
                      <a16:colId xmlns:a16="http://schemas.microsoft.com/office/drawing/2014/main" val="2174078872"/>
                    </a:ext>
                  </a:extLst>
                </a:gridCol>
              </a:tblGrid>
              <a:tr h="50487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Feature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Derived From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Purpose/use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397620"/>
                  </a:ext>
                </a:extLst>
              </a:tr>
              <a:tr h="6855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“Country”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50+ countries into continents for regional trend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62269"/>
                  </a:ext>
                </a:extLst>
              </a:tr>
              <a:tr h="6062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“Price”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Categorize tickets into low/Medium/High tiers for segmentation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58593"/>
                  </a:ext>
                </a:extLst>
              </a:tr>
              <a:tr h="60231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“Gender” (08 Categories)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 into Male/Female/other for cleaner demographic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291614"/>
                  </a:ext>
                </a:extLst>
              </a:tr>
              <a:tr h="6579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Domain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“Email Domain”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Classify as Corporate/Personal/Generic to assess buyer authenticity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882386"/>
                  </a:ext>
                </a:extLst>
              </a:tr>
              <a:tr h="504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Ecosystem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“Mobile Device”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into Apple/Android/Other for spending pattern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725234"/>
                  </a:ext>
                </a:extLst>
              </a:tr>
              <a:tr h="582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Risk 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“Payment Method” + “Price”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 risky transactions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717278"/>
                  </a:ext>
                </a:extLst>
              </a:tr>
              <a:tr h="504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card 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categorize mostly used card for payments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0063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5B5C6-270F-D822-D31D-923BDE48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045BA6-6EB7-A2AE-E81A-3E90CFF6CF1B}"/>
              </a:ext>
            </a:extLst>
          </p:cNvPr>
          <p:cNvSpPr txBox="1"/>
          <p:nvPr/>
        </p:nvSpPr>
        <p:spPr>
          <a:xfrm>
            <a:off x="323850" y="371387"/>
            <a:ext cx="612664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i="0" u="none" strike="noStrike" dirty="0">
                <a:solidFill>
                  <a:srgbClr val="005EAD"/>
                </a:solidFill>
                <a:effectLst/>
                <a:latin typeface="Roboto" panose="02000000000000000000" pitchFamily="2" charset="0"/>
              </a:rPr>
              <a:t>Dataset Overview</a:t>
            </a:r>
          </a:p>
          <a:p>
            <a:pPr>
              <a:buNone/>
            </a:pP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434AE1FF-4B27-6C0C-359C-78014473D53F}"/>
              </a:ext>
            </a:extLst>
          </p:cNvPr>
          <p:cNvCxnSpPr>
            <a:cxnSpLocks/>
          </p:cNvCxnSpPr>
          <p:nvPr/>
        </p:nvCxnSpPr>
        <p:spPr bwMode="auto">
          <a:xfrm>
            <a:off x="238125" y="1293039"/>
            <a:ext cx="5695536" cy="0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4F23ADC-AE8B-400C-94CC-CFC352520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47" y="7391400"/>
            <a:ext cx="2426690" cy="74771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5D03F22-1775-B9A3-14E5-DB5AA3C83EF8}"/>
              </a:ext>
            </a:extLst>
          </p:cNvPr>
          <p:cNvSpPr/>
          <p:nvPr/>
        </p:nvSpPr>
        <p:spPr>
          <a:xfrm>
            <a:off x="238126" y="7629525"/>
            <a:ext cx="952500" cy="4381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Folie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D2505D-CDD9-8807-0A4C-F17D923F5B4F}"/>
              </a:ext>
            </a:extLst>
          </p:cNvPr>
          <p:cNvSpPr/>
          <p:nvPr/>
        </p:nvSpPr>
        <p:spPr>
          <a:xfrm>
            <a:off x="149087" y="1540565"/>
            <a:ext cx="14312348" cy="577463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0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93557-DC5C-C1BE-9D6E-16DAA04F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10AEAB-6404-406E-612C-DAB9B3324F82}"/>
              </a:ext>
            </a:extLst>
          </p:cNvPr>
          <p:cNvSpPr txBox="1"/>
          <p:nvPr/>
        </p:nvSpPr>
        <p:spPr>
          <a:xfrm>
            <a:off x="149086" y="83409"/>
            <a:ext cx="12443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dirty="0">
                <a:solidFill>
                  <a:srgbClr val="005EAD"/>
                </a:solidFill>
                <a:latin typeface="Roboto" panose="02000000000000000000" pitchFamily="2" charset="0"/>
              </a:rPr>
              <a:t>Engagement Trend &amp; Critical Metrics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A8F8AFC8-71D8-232A-1656-02B54B776914}"/>
              </a:ext>
            </a:extLst>
          </p:cNvPr>
          <p:cNvCxnSpPr>
            <a:cxnSpLocks/>
          </p:cNvCxnSpPr>
          <p:nvPr/>
        </p:nvCxnSpPr>
        <p:spPr bwMode="auto">
          <a:xfrm flipV="1">
            <a:off x="238126" y="914406"/>
            <a:ext cx="10168144" cy="10891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CFB73C4-8F9A-75EF-387D-FA8CB465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47" y="7391400"/>
            <a:ext cx="2426690" cy="74771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BE9250-D45D-8519-D5F4-DE545AA8D1E3}"/>
              </a:ext>
            </a:extLst>
          </p:cNvPr>
          <p:cNvSpPr/>
          <p:nvPr/>
        </p:nvSpPr>
        <p:spPr>
          <a:xfrm>
            <a:off x="238126" y="7629525"/>
            <a:ext cx="952500" cy="4381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Folie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D5A687-9625-F179-113B-390B6CC2A1D8}"/>
              </a:ext>
            </a:extLst>
          </p:cNvPr>
          <p:cNvSpPr/>
          <p:nvPr/>
        </p:nvSpPr>
        <p:spPr>
          <a:xfrm>
            <a:off x="87381" y="1003851"/>
            <a:ext cx="14462055" cy="625688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1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85EB9-E270-E59D-42BE-973363C2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7844F7-01C2-9811-B301-09331DB9C8EC}"/>
              </a:ext>
            </a:extLst>
          </p:cNvPr>
          <p:cNvSpPr txBox="1"/>
          <p:nvPr/>
        </p:nvSpPr>
        <p:spPr>
          <a:xfrm>
            <a:off x="149086" y="83409"/>
            <a:ext cx="12443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dirty="0">
                <a:solidFill>
                  <a:srgbClr val="005EAD"/>
                </a:solidFill>
                <a:latin typeface="Roboto" panose="02000000000000000000" pitchFamily="2" charset="0"/>
              </a:rPr>
              <a:t>Engagement Trend &amp; Critical Metrics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30CFDD25-0D19-CC2A-7EB0-B65E628B6045}"/>
              </a:ext>
            </a:extLst>
          </p:cNvPr>
          <p:cNvCxnSpPr>
            <a:cxnSpLocks/>
          </p:cNvCxnSpPr>
          <p:nvPr/>
        </p:nvCxnSpPr>
        <p:spPr bwMode="auto">
          <a:xfrm flipV="1">
            <a:off x="238126" y="914406"/>
            <a:ext cx="10168144" cy="10891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80B19CA-C2BC-6F75-23DF-A2902C833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47" y="7391400"/>
            <a:ext cx="2426690" cy="74771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FADC0F-1446-D69D-67A1-CCB31E1F7C36}"/>
              </a:ext>
            </a:extLst>
          </p:cNvPr>
          <p:cNvSpPr/>
          <p:nvPr/>
        </p:nvSpPr>
        <p:spPr>
          <a:xfrm>
            <a:off x="238126" y="7629525"/>
            <a:ext cx="952500" cy="4381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Folie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C5824-9CEC-3898-F627-85EC661B7481}"/>
              </a:ext>
            </a:extLst>
          </p:cNvPr>
          <p:cNvSpPr/>
          <p:nvPr/>
        </p:nvSpPr>
        <p:spPr>
          <a:xfrm>
            <a:off x="87381" y="1003851"/>
            <a:ext cx="14462055" cy="625688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9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FB41-4E0F-D73A-7431-2DA22416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ED61C8-C8DE-F7E3-B1F1-BB3CE30918CD}"/>
              </a:ext>
            </a:extLst>
          </p:cNvPr>
          <p:cNvSpPr txBox="1"/>
          <p:nvPr/>
        </p:nvSpPr>
        <p:spPr>
          <a:xfrm>
            <a:off x="323850" y="371387"/>
            <a:ext cx="33735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i="0" u="none" strike="noStrike" dirty="0">
                <a:solidFill>
                  <a:srgbClr val="005EAD"/>
                </a:solidFill>
                <a:effectLst/>
                <a:latin typeface="Roboto" panose="02000000000000000000" pitchFamily="2" charset="0"/>
              </a:rPr>
              <a:t>Tools Used</a:t>
            </a:r>
            <a:endParaRPr lang="en-US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119D76A3-E69A-ED3F-2526-8BFF853EC40D}"/>
              </a:ext>
            </a:extLst>
          </p:cNvPr>
          <p:cNvCxnSpPr>
            <a:cxnSpLocks/>
          </p:cNvCxnSpPr>
          <p:nvPr/>
        </p:nvCxnSpPr>
        <p:spPr bwMode="auto">
          <a:xfrm>
            <a:off x="238125" y="1293039"/>
            <a:ext cx="5695536" cy="0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3D9A188-6936-E769-A676-0EDAA81A1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47" y="7391400"/>
            <a:ext cx="2426690" cy="74771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FBC2A9-C736-1002-7ADA-DC97F4952383}"/>
              </a:ext>
            </a:extLst>
          </p:cNvPr>
          <p:cNvSpPr/>
          <p:nvPr/>
        </p:nvSpPr>
        <p:spPr>
          <a:xfrm>
            <a:off x="238126" y="7629525"/>
            <a:ext cx="952500" cy="4381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Folie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B1844-7A36-9866-CE9B-209EAD73E833}"/>
              </a:ext>
            </a:extLst>
          </p:cNvPr>
          <p:cNvSpPr txBox="1"/>
          <p:nvPr/>
        </p:nvSpPr>
        <p:spPr>
          <a:xfrm>
            <a:off x="7762461" y="371387"/>
            <a:ext cx="33735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i="0" u="sng" strike="noStrike" dirty="0">
                <a:solidFill>
                  <a:srgbClr val="005EAD"/>
                </a:solidFill>
                <a:effectLst/>
                <a:latin typeface="Roboto" panose="02000000000000000000" pitchFamily="2" charset="0"/>
              </a:rPr>
              <a:t>Results</a:t>
            </a:r>
            <a:endParaRPr lang="en-US" u="sng" dirty="0"/>
          </a:p>
        </p:txBody>
      </p:sp>
      <p:sp>
        <p:nvSpPr>
          <p:cNvPr id="3" name="Google Shape;1036;p55">
            <a:extLst>
              <a:ext uri="{FF2B5EF4-FFF2-40B4-BE49-F238E27FC236}">
                <a16:creationId xmlns:a16="http://schemas.microsoft.com/office/drawing/2014/main" id="{CDC6C7A5-2468-8F98-F17B-A7D57F78DFCD}"/>
              </a:ext>
            </a:extLst>
          </p:cNvPr>
          <p:cNvSpPr txBox="1">
            <a:spLocks/>
          </p:cNvSpPr>
          <p:nvPr/>
        </p:nvSpPr>
        <p:spPr>
          <a:xfrm>
            <a:off x="726016" y="1604569"/>
            <a:ext cx="5695535" cy="214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(For creating features, Filtering and quick aggregation.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Public: For dashboards presentation</a:t>
            </a:r>
          </a:p>
        </p:txBody>
      </p:sp>
      <p:sp>
        <p:nvSpPr>
          <p:cNvPr id="4" name="Google Shape;1036;p55">
            <a:extLst>
              <a:ext uri="{FF2B5EF4-FFF2-40B4-BE49-F238E27FC236}">
                <a16:creationId xmlns:a16="http://schemas.microsoft.com/office/drawing/2014/main" id="{F2B09F05-EDE2-A603-9B0E-3CDD09369F57}"/>
              </a:ext>
            </a:extLst>
          </p:cNvPr>
          <p:cNvSpPr txBox="1">
            <a:spLocks/>
          </p:cNvSpPr>
          <p:nvPr/>
        </p:nvSpPr>
        <p:spPr>
          <a:xfrm>
            <a:off x="6528485" y="1604569"/>
            <a:ext cx="7545323" cy="5650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user count: 5796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Male: 2570, Female: 2629, Other: 597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Region of Ticket purchaser: Africa (10)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Region of Ticket Purchaser: Asia (2141)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of Transaction: 825750.00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Price Category breakdown: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Low: 1547, Medium: 2531, High: 1718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Brand Type Breakdown: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Android: 1162, Apple: 2237, Other: 2397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Card Brand used for Ticket purchase are: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JCB: 2440, Visa: 161, Mastercard: 555, Other: 2640.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Spender number of user: 2878</a:t>
            </a:r>
          </a:p>
          <a:p>
            <a:pPr marL="0" indent="0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29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D7FA-A7BF-C69C-C0E5-45097896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2DEC71-EC8B-87A0-8A00-ABD7CE0DAEB4}"/>
              </a:ext>
            </a:extLst>
          </p:cNvPr>
          <p:cNvSpPr txBox="1"/>
          <p:nvPr/>
        </p:nvSpPr>
        <p:spPr>
          <a:xfrm>
            <a:off x="149086" y="83409"/>
            <a:ext cx="12443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dirty="0">
                <a:solidFill>
                  <a:srgbClr val="005EAD"/>
                </a:solidFill>
                <a:latin typeface="Roboto" panose="02000000000000000000" pitchFamily="2" charset="0"/>
              </a:rPr>
              <a:t>Engagement Trend &amp; Critical Metrics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F35397E0-102B-CB91-7BF7-6B6A683F3C72}"/>
              </a:ext>
            </a:extLst>
          </p:cNvPr>
          <p:cNvCxnSpPr>
            <a:cxnSpLocks/>
          </p:cNvCxnSpPr>
          <p:nvPr/>
        </p:nvCxnSpPr>
        <p:spPr bwMode="auto">
          <a:xfrm flipV="1">
            <a:off x="238126" y="914406"/>
            <a:ext cx="10168144" cy="10891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0C0943F-8B1D-BA55-B10F-F0BFCA8B7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47" y="7391400"/>
            <a:ext cx="2426690" cy="74771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1D5F07-D35B-C6BD-0C34-7C28C60EBAF3}"/>
              </a:ext>
            </a:extLst>
          </p:cNvPr>
          <p:cNvSpPr/>
          <p:nvPr/>
        </p:nvSpPr>
        <p:spPr>
          <a:xfrm>
            <a:off x="238126" y="7629525"/>
            <a:ext cx="952500" cy="4381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Folie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06259-8C5D-96FB-9929-4558A7356905}"/>
              </a:ext>
            </a:extLst>
          </p:cNvPr>
          <p:cNvSpPr/>
          <p:nvPr/>
        </p:nvSpPr>
        <p:spPr>
          <a:xfrm>
            <a:off x="238126" y="1103243"/>
            <a:ext cx="14064283" cy="6092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Payment Brand: JCB (most frequently used).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High-Spending Country: China (based on frequency in the dataset).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JCB is widely used, especially in Asia; Visa and Mastercard more in Europe.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a diverse range of nationalities, with a strong presence from Asia and Europe.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spenders are more likely to use iPhones and purchase Premium or VIP tickets.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transactions fall under the "Medium" price category.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(iPhone) is the most used device across bookings.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Males dominate in number of bookings, but females show high VIP engagement.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from countries like Germany, Norway, Finland tend to purchase Premium/VIP tickets more often.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from Indonesia, Philippines, Zambia often purchase Economy or Standard seats.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Maestro and UnionPay users tend to make low-to-mid-value purchases.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Non-binary, Polygender, and Genderqueer users are more likely to spend above average, often choosing Premium or VIP tickets.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or government email addresses (gov, </a:t>
            </a:r>
            <a:r>
              <a:rPr lang="en-US" sz="25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org) tend to appear in Standard bookings.</a:t>
            </a:r>
          </a:p>
          <a:p>
            <a:pPr marL="342900" indent="-342900">
              <a:buFontTx/>
              <a:buAutoNum type="arabicPeriod"/>
            </a:pP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 domain users (</a:t>
            </a:r>
            <a:r>
              <a:rPr lang="en-US" sz="25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  <a:r>
              <a:rPr lang="en-US" sz="25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yahoo, outlook) are spread across all segments.</a:t>
            </a:r>
          </a:p>
          <a:p>
            <a:pPr marL="342900" indent="-342900">
              <a:buFontTx/>
              <a:buAutoNum type="arabicPeriod"/>
            </a:pP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7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F4AF1-0F79-3CB4-B31D-166DCEF3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9AD42F-DC93-2B44-46E1-9065F3E24227}"/>
              </a:ext>
            </a:extLst>
          </p:cNvPr>
          <p:cNvSpPr txBox="1"/>
          <p:nvPr/>
        </p:nvSpPr>
        <p:spPr>
          <a:xfrm>
            <a:off x="149086" y="83409"/>
            <a:ext cx="12443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800" b="1" dirty="0">
                <a:solidFill>
                  <a:srgbClr val="005EAD"/>
                </a:solidFill>
                <a:latin typeface="Roboto" panose="02000000000000000000" pitchFamily="2" charset="0"/>
              </a:rPr>
              <a:t>Hypothesis &amp; Pattern Interpretation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4F686EE0-3C08-19C9-1980-799FB9DC56C1}"/>
              </a:ext>
            </a:extLst>
          </p:cNvPr>
          <p:cNvCxnSpPr>
            <a:cxnSpLocks/>
          </p:cNvCxnSpPr>
          <p:nvPr/>
        </p:nvCxnSpPr>
        <p:spPr bwMode="auto">
          <a:xfrm flipV="1">
            <a:off x="238126" y="914406"/>
            <a:ext cx="10168144" cy="10891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DB7BF79-EBE5-DC28-AB10-6E7D1E11E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47" y="7391400"/>
            <a:ext cx="2426690" cy="74771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EBA754-5B48-9633-FFAB-2408B24EB078}"/>
              </a:ext>
            </a:extLst>
          </p:cNvPr>
          <p:cNvSpPr/>
          <p:nvPr/>
        </p:nvSpPr>
        <p:spPr>
          <a:xfrm>
            <a:off x="238126" y="7629525"/>
            <a:ext cx="952500" cy="4381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Folie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169E3C-24ED-79F6-6EA8-ABC8A7496E71}"/>
              </a:ext>
            </a:extLst>
          </p:cNvPr>
          <p:cNvSpPr/>
          <p:nvPr/>
        </p:nvSpPr>
        <p:spPr>
          <a:xfrm>
            <a:off x="238126" y="1103243"/>
            <a:ext cx="14064283" cy="6092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Pattern: Price Distribution by gender (gender + Average ticket price).</a:t>
            </a:r>
            <a:b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Hypothesis: Males and females may purchase different-priced seats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Pattern: Price vs gender + device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 Females prefer iPhone and mid-range seats</a:t>
            </a:r>
          </a:p>
          <a:p>
            <a:pPr marL="342900" indent="-342900">
              <a:buFontTx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Pattern: Price vs device</a:t>
            </a:r>
            <a:b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users spend less per ticket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Pattern: Payment + Country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 JCB users are mostly from Asia (China, Japan)</a:t>
            </a:r>
          </a:p>
          <a:p>
            <a:pPr marL="342900" indent="-342900">
              <a:buFontTx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Pattern: Price vs Payment method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 Visa and Mastercard users pay more</a:t>
            </a:r>
          </a:p>
          <a:p>
            <a:pPr marL="342900" indent="-342900">
              <a:buFontTx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Pattern: Region + High Spender status</a:t>
            </a:r>
            <a:b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Hypothesis: Users from Europe and North America are more likely to be High Spenders.</a:t>
            </a:r>
          </a:p>
          <a:p>
            <a:pPr marL="342900" indent="-342900">
              <a:buFontTx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Pattern: Payment Method + Average Ticket Price</a:t>
            </a:r>
            <a:b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Hypothesis: Users paying with Mastercard or Visa spend more on average than those using JCB or prepaid solutions.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Pattern: Country + Ticket Segment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 Users from high-income countries (e.g., Germany, Norway) prefer Premium/VIP tickets, while users from developing countries tend to buy Standard or Economy.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Pattern: Email Domain + Price Category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 Users with institutional domains (e.g., .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.gov) tend to purchase Standard tickets, while personal domains like Gmail are spread across all price tiers.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91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196071-1148-FD6A-9D94-249D5A057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5" y="703029"/>
            <a:ext cx="7553325" cy="75265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124174-DA45-BCD5-9214-D6D64716F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20784" y="2505075"/>
            <a:ext cx="5161915" cy="51619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PlaceHolder 1">
            <a:extLst>
              <a:ext uri="{FF2B5EF4-FFF2-40B4-BE49-F238E27FC236}">
                <a16:creationId xmlns:a16="http://schemas.microsoft.com/office/drawing/2014/main" id="{C11417F8-1DFF-E1A2-A2B8-7E42D71B96D2}"/>
              </a:ext>
            </a:extLst>
          </p:cNvPr>
          <p:cNvSpPr txBox="1">
            <a:spLocks/>
          </p:cNvSpPr>
          <p:nvPr/>
        </p:nvSpPr>
        <p:spPr>
          <a:xfrm>
            <a:off x="3319780" y="1976437"/>
            <a:ext cx="4629150" cy="1057275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91440" rIns="91440" bIns="91440" rtlCol="0" anchor="t">
            <a:norm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tabLst>
                <a:tab pos="0" algn="l"/>
              </a:tabLst>
            </a:pPr>
            <a:r>
              <a:rPr lang="en-US" sz="5400" b="1" spc="-1">
                <a:solidFill>
                  <a:schemeClr val="dk1"/>
                </a:solidFill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</a:rPr>
              <a:t>Thank you!</a:t>
            </a:r>
            <a:endParaRPr lang="en-US" sz="5400" b="1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laceHolder 2">
            <a:extLst>
              <a:ext uri="{FF2B5EF4-FFF2-40B4-BE49-F238E27FC236}">
                <a16:creationId xmlns:a16="http://schemas.microsoft.com/office/drawing/2014/main" id="{1A5350BC-9707-DBF6-C55A-3D0640E24D86}"/>
              </a:ext>
            </a:extLst>
          </p:cNvPr>
          <p:cNvSpPr txBox="1">
            <a:spLocks/>
          </p:cNvSpPr>
          <p:nvPr/>
        </p:nvSpPr>
        <p:spPr>
          <a:xfrm>
            <a:off x="3017204" y="2873145"/>
            <a:ext cx="3936045" cy="167028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91440" rIns="91440" bIns="91440" rtlCol="0" anchor="ctr">
            <a:normAutofit/>
          </a:bodyPr>
          <a:lstStyle>
            <a:lvl1pPr marL="411480" indent="-41148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16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891540" indent="-34290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92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8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54864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buFont typeface="Wingdings 3" charset="2"/>
              <a:buNone/>
              <a:tabLst>
                <a:tab pos="0" algn="l"/>
              </a:tabLst>
            </a:pPr>
            <a:r>
              <a:rPr lang="en-US" sz="1600" b="1" spc="-1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</a:rPr>
              <a:t>Do you have any questions?</a:t>
            </a: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oogle Shape;1049;p55">
            <a:extLst>
              <a:ext uri="{FF2B5EF4-FFF2-40B4-BE49-F238E27FC236}">
                <a16:creationId xmlns:a16="http://schemas.microsoft.com/office/drawing/2014/main" id="{79682E61-5DBA-EDDD-A18A-FE3B01F213A6}"/>
              </a:ext>
            </a:extLst>
          </p:cNvPr>
          <p:cNvGrpSpPr/>
          <p:nvPr/>
        </p:nvGrpSpPr>
        <p:grpSpPr>
          <a:xfrm>
            <a:off x="5156508" y="4543425"/>
            <a:ext cx="709920" cy="513720"/>
            <a:chOff x="2460960" y="3060720"/>
            <a:chExt cx="709920" cy="513720"/>
          </a:xfrm>
        </p:grpSpPr>
        <p:sp>
          <p:nvSpPr>
            <p:cNvPr id="18" name="Google Shape;1050;p55">
              <a:extLst>
                <a:ext uri="{FF2B5EF4-FFF2-40B4-BE49-F238E27FC236}">
                  <a16:creationId xmlns:a16="http://schemas.microsoft.com/office/drawing/2014/main" id="{2FFB5600-D902-8DC0-9977-C34AFF314124}"/>
                </a:ext>
              </a:extLst>
            </p:cNvPr>
            <p:cNvSpPr/>
            <p:nvPr/>
          </p:nvSpPr>
          <p:spPr>
            <a:xfrm>
              <a:off x="246096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Google Shape;1051;p55">
              <a:extLst>
                <a:ext uri="{FF2B5EF4-FFF2-40B4-BE49-F238E27FC236}">
                  <a16:creationId xmlns:a16="http://schemas.microsoft.com/office/drawing/2014/main" id="{074A2BA3-D327-D22B-963F-8604B11716E9}"/>
                </a:ext>
              </a:extLst>
            </p:cNvPr>
            <p:cNvGrpSpPr/>
            <p:nvPr/>
          </p:nvGrpSpPr>
          <p:grpSpPr>
            <a:xfrm>
              <a:off x="2651400" y="3153240"/>
              <a:ext cx="328320" cy="328320"/>
              <a:chOff x="2651400" y="3153240"/>
              <a:chExt cx="328320" cy="328320"/>
            </a:xfrm>
          </p:grpSpPr>
          <p:sp>
            <p:nvSpPr>
              <p:cNvPr id="20" name="Google Shape;1052;p55">
                <a:extLst>
                  <a:ext uri="{FF2B5EF4-FFF2-40B4-BE49-F238E27FC236}">
                    <a16:creationId xmlns:a16="http://schemas.microsoft.com/office/drawing/2014/main" id="{400604B1-613C-851E-130C-3B97376F44E2}"/>
                  </a:ext>
                </a:extLst>
              </p:cNvPr>
              <p:cNvSpPr/>
              <p:nvPr/>
            </p:nvSpPr>
            <p:spPr>
              <a:xfrm>
                <a:off x="2806920" y="3210840"/>
                <a:ext cx="112320" cy="27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270720"/>
                  <a:gd name="textAreaBottom" fmla="*/ 271080 h 270720"/>
                </a:gdLst>
                <a:ahLst/>
                <a:cxnLst/>
                <a:rect l="textAreaLeft" t="textAreaTop" r="textAreaRight" b="textAreaBottom"/>
                <a:pathLst>
                  <a:path w="6527" h="15727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Google Shape;1053;p55">
                <a:extLst>
                  <a:ext uri="{FF2B5EF4-FFF2-40B4-BE49-F238E27FC236}">
                    <a16:creationId xmlns:a16="http://schemas.microsoft.com/office/drawing/2014/main" id="{27798A76-16D3-76FC-76D0-FD885D23E86D}"/>
                  </a:ext>
                </a:extLst>
              </p:cNvPr>
              <p:cNvSpPr/>
              <p:nvPr/>
            </p:nvSpPr>
            <p:spPr>
              <a:xfrm>
                <a:off x="26514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6" h="19065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" name="Google Shape;1054;p55">
            <a:extLst>
              <a:ext uri="{FF2B5EF4-FFF2-40B4-BE49-F238E27FC236}">
                <a16:creationId xmlns:a16="http://schemas.microsoft.com/office/drawing/2014/main" id="{ACE18D72-5F0D-AD4E-384E-EBBE8810116B}"/>
              </a:ext>
            </a:extLst>
          </p:cNvPr>
          <p:cNvGrpSpPr/>
          <p:nvPr/>
        </p:nvGrpSpPr>
        <p:grpSpPr>
          <a:xfrm>
            <a:off x="3476748" y="4543425"/>
            <a:ext cx="709920" cy="513720"/>
            <a:chOff x="781200" y="3060720"/>
            <a:chExt cx="709920" cy="513720"/>
          </a:xfrm>
        </p:grpSpPr>
        <p:sp>
          <p:nvSpPr>
            <p:cNvPr id="23" name="Google Shape;1055;p55">
              <a:extLst>
                <a:ext uri="{FF2B5EF4-FFF2-40B4-BE49-F238E27FC236}">
                  <a16:creationId xmlns:a16="http://schemas.microsoft.com/office/drawing/2014/main" id="{F8998296-E7B8-21C3-A438-1030BD6BC541}"/>
                </a:ext>
              </a:extLst>
            </p:cNvPr>
            <p:cNvSpPr/>
            <p:nvPr/>
          </p:nvSpPr>
          <p:spPr>
            <a:xfrm>
              <a:off x="78120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" name="Google Shape;1056;p55">
              <a:extLst>
                <a:ext uri="{FF2B5EF4-FFF2-40B4-BE49-F238E27FC236}">
                  <a16:creationId xmlns:a16="http://schemas.microsoft.com/office/drawing/2014/main" id="{2F93EF7C-D142-A634-A00C-261D7B7F9C72}"/>
                </a:ext>
              </a:extLst>
            </p:cNvPr>
            <p:cNvGrpSpPr/>
            <p:nvPr/>
          </p:nvGrpSpPr>
          <p:grpSpPr>
            <a:xfrm>
              <a:off x="972000" y="3153240"/>
              <a:ext cx="328320" cy="328320"/>
              <a:chOff x="972000" y="3153240"/>
              <a:chExt cx="328320" cy="328320"/>
            </a:xfrm>
          </p:grpSpPr>
          <p:sp>
            <p:nvSpPr>
              <p:cNvPr id="25" name="Google Shape;1057;p55">
                <a:extLst>
                  <a:ext uri="{FF2B5EF4-FFF2-40B4-BE49-F238E27FC236}">
                    <a16:creationId xmlns:a16="http://schemas.microsoft.com/office/drawing/2014/main" id="{134EC62E-F00B-E140-141E-66605F916273}"/>
                  </a:ext>
                </a:extLst>
              </p:cNvPr>
              <p:cNvSpPr/>
              <p:nvPr/>
            </p:nvSpPr>
            <p:spPr>
              <a:xfrm>
                <a:off x="1040040" y="3211560"/>
                <a:ext cx="19080" cy="1908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1119" h="1117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Google Shape;1058;p55">
                <a:extLst>
                  <a:ext uri="{FF2B5EF4-FFF2-40B4-BE49-F238E27FC236}">
                    <a16:creationId xmlns:a16="http://schemas.microsoft.com/office/drawing/2014/main" id="{A76DD3D1-5553-2A7B-41A8-136D9AD1A731}"/>
                  </a:ext>
                </a:extLst>
              </p:cNvPr>
              <p:cNvSpPr/>
              <p:nvPr/>
            </p:nvSpPr>
            <p:spPr>
              <a:xfrm>
                <a:off x="9720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5" h="19065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Google Shape;1059;p55">
                <a:extLst>
                  <a:ext uri="{FF2B5EF4-FFF2-40B4-BE49-F238E27FC236}">
                    <a16:creationId xmlns:a16="http://schemas.microsoft.com/office/drawing/2014/main" id="{2092C48C-CB5D-54A7-B73E-36C71D94F8CF}"/>
                  </a:ext>
                </a:extLst>
              </p:cNvPr>
              <p:cNvSpPr/>
              <p:nvPr/>
            </p:nvSpPr>
            <p:spPr>
              <a:xfrm>
                <a:off x="1117080" y="3288240"/>
                <a:ext cx="115200" cy="13464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6704" h="7837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7320" bIns="67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Google Shape;1060;p55">
                <a:extLst>
                  <a:ext uri="{FF2B5EF4-FFF2-40B4-BE49-F238E27FC236}">
                    <a16:creationId xmlns:a16="http://schemas.microsoft.com/office/drawing/2014/main" id="{0D1F7E35-0ACC-816F-409D-8DD3D9BC0936}"/>
                  </a:ext>
                </a:extLst>
              </p:cNvPr>
              <p:cNvSpPr/>
              <p:nvPr/>
            </p:nvSpPr>
            <p:spPr>
              <a:xfrm>
                <a:off x="1040040" y="3288600"/>
                <a:ext cx="19080" cy="13464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1119" h="782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7320" bIns="67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9" name="Google Shape;1061;p55">
            <a:extLst>
              <a:ext uri="{FF2B5EF4-FFF2-40B4-BE49-F238E27FC236}">
                <a16:creationId xmlns:a16="http://schemas.microsoft.com/office/drawing/2014/main" id="{015EE0E2-3DE0-36B4-0234-15AF4C9E688A}"/>
              </a:ext>
            </a:extLst>
          </p:cNvPr>
          <p:cNvGrpSpPr/>
          <p:nvPr/>
        </p:nvGrpSpPr>
        <p:grpSpPr>
          <a:xfrm>
            <a:off x="4316628" y="4543425"/>
            <a:ext cx="709920" cy="513720"/>
            <a:chOff x="1621080" y="3060720"/>
            <a:chExt cx="709920" cy="513720"/>
          </a:xfrm>
        </p:grpSpPr>
        <p:sp>
          <p:nvSpPr>
            <p:cNvPr id="30" name="Google Shape;1062;p55">
              <a:extLst>
                <a:ext uri="{FF2B5EF4-FFF2-40B4-BE49-F238E27FC236}">
                  <a16:creationId xmlns:a16="http://schemas.microsoft.com/office/drawing/2014/main" id="{485DFD4F-9B64-826A-1D3F-C1A9B33FBAE8}"/>
                </a:ext>
              </a:extLst>
            </p:cNvPr>
            <p:cNvSpPr/>
            <p:nvPr/>
          </p:nvSpPr>
          <p:spPr>
            <a:xfrm>
              <a:off x="16210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1" name="Google Shape;1063;p55">
              <a:extLst>
                <a:ext uri="{FF2B5EF4-FFF2-40B4-BE49-F238E27FC236}">
                  <a16:creationId xmlns:a16="http://schemas.microsoft.com/office/drawing/2014/main" id="{835FCD20-F90B-AD10-C645-9EE2BB3E2721}"/>
                </a:ext>
              </a:extLst>
            </p:cNvPr>
            <p:cNvGrpSpPr/>
            <p:nvPr/>
          </p:nvGrpSpPr>
          <p:grpSpPr>
            <a:xfrm>
              <a:off x="1811880" y="3153240"/>
              <a:ext cx="328320" cy="328320"/>
              <a:chOff x="1811880" y="3153240"/>
              <a:chExt cx="328320" cy="328320"/>
            </a:xfrm>
          </p:grpSpPr>
          <p:sp>
            <p:nvSpPr>
              <p:cNvPr id="32" name="Google Shape;1064;p55">
                <a:extLst>
                  <a:ext uri="{FF2B5EF4-FFF2-40B4-BE49-F238E27FC236}">
                    <a16:creationId xmlns:a16="http://schemas.microsoft.com/office/drawing/2014/main" id="{DE84B253-29DD-47D6-EBAB-D8E28673C61E}"/>
                  </a:ext>
                </a:extLst>
              </p:cNvPr>
              <p:cNvSpPr/>
              <p:nvPr/>
            </p:nvSpPr>
            <p:spPr>
              <a:xfrm>
                <a:off x="1870200" y="3211560"/>
                <a:ext cx="211680" cy="21168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211680"/>
                  <a:gd name="textAreaBottom" fmla="*/ 212040 h 21168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Google Shape;1065;p55">
                <a:extLst>
                  <a:ext uri="{FF2B5EF4-FFF2-40B4-BE49-F238E27FC236}">
                    <a16:creationId xmlns:a16="http://schemas.microsoft.com/office/drawing/2014/main" id="{228CE1ED-3226-9559-7AC0-78154A911ACE}"/>
                  </a:ext>
                </a:extLst>
              </p:cNvPr>
              <p:cNvSpPr/>
              <p:nvPr/>
            </p:nvSpPr>
            <p:spPr>
              <a:xfrm>
                <a:off x="1927800" y="3269520"/>
                <a:ext cx="96120" cy="96120"/>
              </a:xfrm>
              <a:custGeom>
                <a:avLst/>
                <a:gdLst>
                  <a:gd name="textAreaLeft" fmla="*/ 0 w 96120"/>
                  <a:gd name="textAreaRight" fmla="*/ 96480 w 9612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240" bIns="48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Google Shape;1066;p55">
                <a:extLst>
                  <a:ext uri="{FF2B5EF4-FFF2-40B4-BE49-F238E27FC236}">
                    <a16:creationId xmlns:a16="http://schemas.microsoft.com/office/drawing/2014/main" id="{E1139528-0E5C-8E36-B6DA-B28765361711}"/>
                  </a:ext>
                </a:extLst>
              </p:cNvPr>
              <p:cNvSpPr/>
              <p:nvPr/>
            </p:nvSpPr>
            <p:spPr>
              <a:xfrm>
                <a:off x="181188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4" h="19065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 noProof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5" name="Google Shape;1067;p55">
            <a:extLst>
              <a:ext uri="{FF2B5EF4-FFF2-40B4-BE49-F238E27FC236}">
                <a16:creationId xmlns:a16="http://schemas.microsoft.com/office/drawing/2014/main" id="{3D2692BA-0F49-6F43-AE81-E7CB7B40260E}"/>
              </a:ext>
            </a:extLst>
          </p:cNvPr>
          <p:cNvGrpSpPr/>
          <p:nvPr/>
        </p:nvGrpSpPr>
        <p:grpSpPr>
          <a:xfrm>
            <a:off x="5996028" y="4543425"/>
            <a:ext cx="709920" cy="513720"/>
            <a:chOff x="3300480" y="3060720"/>
            <a:chExt cx="709920" cy="513720"/>
          </a:xfrm>
        </p:grpSpPr>
        <p:sp>
          <p:nvSpPr>
            <p:cNvPr id="36" name="Google Shape;1068;p55">
              <a:extLst>
                <a:ext uri="{FF2B5EF4-FFF2-40B4-BE49-F238E27FC236}">
                  <a16:creationId xmlns:a16="http://schemas.microsoft.com/office/drawing/2014/main" id="{1A383388-6B7D-06CE-2DBA-7B40720EFCEA}"/>
                </a:ext>
              </a:extLst>
            </p:cNvPr>
            <p:cNvSpPr/>
            <p:nvPr/>
          </p:nvSpPr>
          <p:spPr>
            <a:xfrm>
              <a:off x="33004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Google Shape;1069;p55">
              <a:extLst>
                <a:ext uri="{FF2B5EF4-FFF2-40B4-BE49-F238E27FC236}">
                  <a16:creationId xmlns:a16="http://schemas.microsoft.com/office/drawing/2014/main" id="{F5655E79-ACBF-2B4F-3F40-1E132B86B2FA}"/>
                </a:ext>
              </a:extLst>
            </p:cNvPr>
            <p:cNvSpPr/>
            <p:nvPr/>
          </p:nvSpPr>
          <p:spPr>
            <a:xfrm>
              <a:off x="3490920" y="3183120"/>
              <a:ext cx="329400" cy="268560"/>
            </a:xfrm>
            <a:custGeom>
              <a:avLst/>
              <a:gdLst>
                <a:gd name="textAreaLeft" fmla="*/ 0 w 329400"/>
                <a:gd name="textAreaRight" fmla="*/ 329760 w 329400"/>
                <a:gd name="textAreaTop" fmla="*/ 0 h 268560"/>
                <a:gd name="textAreaBottom" fmla="*/ 268920 h 268560"/>
              </a:gdLst>
              <a:ahLst/>
              <a:cxnLst/>
              <a:rect l="textAreaLeft" t="textAreaTop" r="textAreaRight" b="textAreaBottom"/>
              <a:pathLst>
                <a:path w="19122" h="15596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8366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781</Words>
  <Application>Microsoft Office PowerPoint</Application>
  <PresentationFormat>Custom</PresentationFormat>
  <Paragraphs>89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 Black</vt:lpstr>
      <vt:lpstr>Arial</vt:lpstr>
      <vt:lpstr>Times New Roman</vt:lpstr>
      <vt:lpstr>Noto Sans Symbols</vt:lpstr>
      <vt:lpstr>Wingdings 3</vt:lpstr>
      <vt:lpstr>Century Gothic</vt:lpstr>
      <vt:lpstr>Roboto</vt:lpstr>
      <vt:lpstr>Tahoma</vt:lpstr>
      <vt:lpstr>Office Theme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Abdullah Al Noman</cp:lastModifiedBy>
  <cp:revision>40</cp:revision>
  <dcterms:created xsi:type="dcterms:W3CDTF">2025-05-03T19:58:44Z</dcterms:created>
  <dcterms:modified xsi:type="dcterms:W3CDTF">2025-05-18T13:25:02Z</dcterms:modified>
</cp:coreProperties>
</file>